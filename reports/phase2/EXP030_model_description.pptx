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EXP012</c:v>
                </c:pt>
              </c:strCache>
            </c:strRef>
          </c:tx>
          <c:spPr>
            <a:solidFill>
              <a:srgbClr val="61797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1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SSIM full</c:v>
                  </c:pt>
                  <c:pt idx="1">
                    <c:v>SSIM bbox</c:v>
                  </c:pt>
                  <c:pt idx="2">
                    <c:v>Total score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0.912</c:v>
                </c:pt>
                <c:pt idx="1">
                  <c:v>0.904</c:v>
                </c:pt>
                <c:pt idx="2">
                  <c:v>0.9089654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EXP030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1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SSIM full</c:v>
                  </c:pt>
                  <c:pt idx="1">
                    <c:v>SSIM bbox</c:v>
                  </c:pt>
                  <c:pt idx="2">
                    <c:v>Total score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0.9178</c:v>
                </c:pt>
                <c:pt idx="1">
                  <c:v>0.9108</c:v>
                </c:pt>
                <c:pt idx="2">
                  <c:v>0.9152514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021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6F3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2"/>
          <c:min val="0.9"/>
        </c:scaling>
        <c:delete val="0"/>
        <c:axPos val="l"/>
        <c:majorGridlines>
          <c:spPr>
            <a:ln w="12700" cap="flat">
              <a:solidFill>
                <a:srgbClr val="D9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ms/slice</c:v>
                </c:pt>
              </c:strCache>
            </c:strRef>
          </c:tx>
          <c:spPr>
            <a:solidFill>
              <a:srgbClr val="2DD4BF"/>
            </a:solidFill>
            <a:ln w="3175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173.4</c:v>
                </c:pt>
                <c:pt idx="1">
                  <c:v>173.8</c:v>
                </c:pt>
                <c:pt idx="2">
                  <c:v>173.7</c:v>
                </c:pt>
                <c:pt idx="3">
                  <c:v>173.7</c:v>
                </c:pt>
                <c:pt idx="4">
                  <c:v>173.5</c:v>
                </c:pt>
                <c:pt idx="5">
                  <c:v>173.6</c:v>
                </c:pt>
                <c:pt idx="6">
                  <c:v>173.6</c:v>
                </c:pt>
                <c:pt idx="7">
                  <c:v>173.6</c:v>
                </c:pt>
                <c:pt idx="8">
                  <c:v>173.7</c:v>
                </c:pt>
                <c:pt idx="9">
                  <c:v>173.6</c:v>
                </c:pt>
                <c:pt idx="10">
                  <c:v>173.5</c:v>
                </c:pt>
                <c:pt idx="11">
                  <c:v>173.6</c:v>
                </c:pt>
                <c:pt idx="12">
                  <c:v>173.6</c:v>
                </c:pt>
                <c:pt idx="13">
                  <c:v>173.5</c:v>
                </c:pt>
                <c:pt idx="14">
                  <c:v>173.5</c:v>
                </c:pt>
                <c:pt idx="15">
                  <c:v>173.7</c:v>
                </c:pt>
                <c:pt idx="16">
                  <c:v>173.5</c:v>
                </c:pt>
                <c:pt idx="17">
                  <c:v>173.6</c:v>
                </c:pt>
                <c:pt idx="18">
                  <c:v>173.6</c:v>
                </c:pt>
                <c:pt idx="19">
                  <c:v>173.7</c:v>
                </c:pt>
                <c:pt idx="20">
                  <c:v>173.5</c:v>
                </c:pt>
                <c:pt idx="21">
                  <c:v>173.6</c:v>
                </c:pt>
                <c:pt idx="22">
                  <c:v>173.7</c:v>
                </c:pt>
                <c:pt idx="23">
                  <c:v>173.6</c:v>
                </c:pt>
                <c:pt idx="24">
                  <c:v>173.5</c:v>
                </c:pt>
                <c:pt idx="25">
                  <c:v>173.6</c:v>
                </c:pt>
                <c:pt idx="26">
                  <c:v>173.6</c:v>
                </c:pt>
                <c:pt idx="27">
                  <c:v>173.6</c:v>
                </c:pt>
                <c:pt idx="28">
                  <c:v>173.6</c:v>
                </c:pt>
                <c:pt idx="29">
                  <c:v>173.5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07151C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B8B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3.9"/>
          <c:min val="173.3"/>
        </c:scaling>
        <c:delete val="0"/>
        <c:axPos val="l"/>
        <c:majorGridlines>
          <c:spPr>
            <a:ln w="12700" cap="flat">
              <a:solidFill>
                <a:srgbClr val="18394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B8B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solidFill>
          <a:srgbClr val="102731"/>
        </a:solidFill>
        <a:ln>
          <a:noFill/>
        </a:ln>
        <a:effectLst/>
      </c:spPr>
    </c:plotArea>
    <c:plotVisOnly val="1"/>
    <c:dispBlanksAs val="span"/>
  </c:chart>
  <c:spPr>
    <a:solidFill>
      <a:srgbClr val="10273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548640"/>
            <a:ext cx="5303520" cy="5303520"/>
          </a:xfrm>
          <a:prstGeom prst="ellipse">
            <a:avLst/>
          </a:prstGeom>
          <a:solidFill>
            <a:srgbClr val="102731">
              <a:alpha val="90000"/>
            </a:srgbClr>
          </a:solidFill>
          <a:ln w="19050">
            <a:solidFill>
              <a:srgbClr val="1839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0"/>
            <a:ext cx="4206240" cy="4206240"/>
          </a:xfrm>
          <a:prstGeom prst="ellipse">
            <a:avLst/>
          </a:prstGeom>
          <a:solidFill>
            <a:srgbClr val="07151C">
              <a:alpha val="90000"/>
            </a:srgbClr>
          </a:solidFill>
          <a:ln w="25400">
            <a:solidFill>
              <a:srgbClr val="2DD4B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548640"/>
            <a:ext cx="3108960" cy="3108960"/>
          </a:xfrm>
          <a:prstGeom prst="ellipse">
            <a:avLst/>
          </a:prstGeom>
          <a:solidFill>
            <a:srgbClr val="183943">
              <a:alpha val="90000"/>
            </a:srgbClr>
          </a:solidFill>
          <a:ln w="19050">
            <a:solidFill>
              <a:srgbClr val="FF5C93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2103120"/>
            <a:ext cx="1737360" cy="0"/>
          </a:xfrm>
          <a:prstGeom prst="line">
            <a:avLst/>
          </a:prstGeom>
          <a:noFill/>
          <a:ln w="12700">
            <a:solidFill>
              <a:srgbClr val="7DE3D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5560" y="1234440"/>
            <a:ext cx="0" cy="1737360"/>
          </a:xfrm>
          <a:prstGeom prst="line">
            <a:avLst/>
          </a:prstGeom>
          <a:noFill/>
          <a:ln w="12700">
            <a:solidFill>
              <a:srgbClr val="7DE3D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66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</a:rPr>
              <a:t>FINAL PHASE 2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6126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F7FBFA"/>
                </a:solidFill>
              </a:rPr>
              <a:t>EXP030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DE3D8"/>
                </a:solidFill>
              </a:rPr>
              <a:t>A quality-first VarNet submission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8B9"/>
                </a:solidFill>
              </a:rPr>
              <a:t>4 cascades  ·  12 channels  ·  8 sensitivity channels  ·  20 epochs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913632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6968" y="4114800"/>
            <a:ext cx="109728" cy="109728"/>
          </a:xfrm>
          <a:prstGeom prst="ellipse">
            <a:avLst/>
          </a:prstGeom>
          <a:solidFill>
            <a:srgbClr val="FF5C93"/>
          </a:solidFill>
          <a:ln w="12700">
            <a:solidFill>
              <a:srgbClr val="FF5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261104"/>
            <a:ext cx="174650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BFA"/>
                </a:solidFill>
              </a:rPr>
              <a:t>0.915251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6968" y="475488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AB8B9"/>
                </a:solidFill>
              </a:rPr>
              <a:t>FINAL TOTAL SCORE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35808" y="3913632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36976" y="4114800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4261104"/>
            <a:ext cx="147218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BFA"/>
                </a:solidFill>
              </a:rPr>
              <a:t>0.9178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36976" y="4754880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AB8B9"/>
                </a:solidFill>
              </a:rPr>
              <a:t>SSIM FULL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11496" y="3913632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12664" y="4114800"/>
            <a:ext cx="109728" cy="109728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12664" y="4261104"/>
            <a:ext cx="147218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BFA"/>
                </a:solidFill>
              </a:rPr>
              <a:t>0.9108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312664" y="4754880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AB8B9"/>
                </a:solidFill>
              </a:rPr>
              <a:t>SSIM BBOX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21040" y="4983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FBFA"/>
                </a:solidFill>
              </a:rPr>
              <a:t>30 / 30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001000" y="55595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B8B9"/>
                </a:solidFill>
              </a:rPr>
              <a:t>official runs completed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SNU FastMRI Challenge  ·  EXP030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9224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DD4BF"/>
                </a:solidFill>
              </a:rPr>
              <a:t>MODEL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BFA"/>
                </a:solidFill>
              </a:rPr>
              <a:t>VarNet reconstruction path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8B9"/>
                </a:solidFill>
              </a:rPr>
              <a:t>Only undersampled k-space and its acquisition mask enter inference.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BFA"/>
                </a:solidFill>
              </a:rPr>
              <a:t>K-space + mask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364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B9"/>
                </a:solidFill>
              </a:rPr>
              <a:t>Complex input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3160" y="2761488"/>
            <a:ext cx="320040" cy="365760"/>
          </a:xfrm>
          <a:prstGeom prst="chevron">
            <a:avLst/>
          </a:prstGeom>
          <a:solidFill>
            <a:srgbClr val="2DD4BF">
              <a:alpha val="9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05740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27432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BFA"/>
                </a:solidFill>
              </a:rPr>
              <a:t>Sensitivity U-Net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71800" y="33649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B9"/>
                </a:solidFill>
              </a:rPr>
              <a:t>8 channels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2761488"/>
            <a:ext cx="320040" cy="365760"/>
          </a:xfrm>
          <a:prstGeom prst="chevron">
            <a:avLst/>
          </a:prstGeom>
          <a:solidFill>
            <a:srgbClr val="2DD4BF">
              <a:alpha val="9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20574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66360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93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274320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BFA"/>
                </a:solidFill>
              </a:rPr>
              <a:t>VarNet cascades ×4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66360" y="3364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B9"/>
                </a:solidFill>
              </a:rPr>
              <a:t>12 channels each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86600" y="2761488"/>
            <a:ext cx="320040" cy="365760"/>
          </a:xfrm>
          <a:prstGeom prst="chevron">
            <a:avLst/>
          </a:prstGeom>
          <a:solidFill>
            <a:srgbClr val="2DD4BF">
              <a:alpha val="9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205740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35240" y="27432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BFA"/>
                </a:solidFill>
              </a:rPr>
              <a:t>Data consistency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35240" y="33649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B9"/>
                </a:solidFill>
              </a:rPr>
              <a:t>Measured samples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81160" y="2761488"/>
            <a:ext cx="320040" cy="365760"/>
          </a:xfrm>
          <a:prstGeom prst="chevron">
            <a:avLst/>
          </a:prstGeom>
          <a:solidFill>
            <a:srgbClr val="2DD4BF">
              <a:alpha val="9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9800" y="205740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12680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12680" y="27432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BFA"/>
                </a:solidFill>
              </a:rPr>
              <a:t>Magnitude image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012680" y="3364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8B9"/>
                </a:solidFill>
              </a:rPr>
              <a:t>Slice output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4315968"/>
            <a:ext cx="10698480" cy="1298448"/>
          </a:xfrm>
          <a:prstGeom prst="roundRect">
            <a:avLst>
              <a:gd name="adj" fmla="val 5634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2688" y="4590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BFA"/>
                </a:solidFill>
              </a:rPr>
              <a:t>Inference integrity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816352" y="4553712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43784" y="45720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51C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82112" y="45811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DE3D8"/>
                </a:solidFill>
              </a:rPr>
              <a:t>No image field input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9744" y="4553712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37176" y="45720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51C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75504" y="45811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DE3D8"/>
                </a:solidFill>
              </a:rPr>
              <a:t>No bbox annotations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03136" y="4553712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0568" y="45720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51C"/>
                </a:solidFill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68896" y="45811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DE3D8"/>
                </a:solidFill>
              </a:rPr>
              <a:t>No provided GRAPPA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796528" y="4553712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23960" y="45720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51C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62288" y="45811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DE3D8"/>
                </a:solidFill>
              </a:rPr>
              <a:t>Batch = 1 timing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SNU FastMRI Challenge  ·  EXP030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201400" y="649224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F927F"/>
                </a:solidFill>
              </a:rPr>
              <a:t>TRAINING 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128"/>
                </a:solidFill>
              </a:rPr>
              <a:t>EXP030 converged to the best validation candidate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8122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8E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EXP030 validation loss across 20 epoch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55648"/>
            <a:ext cx="6236208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5046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97C"/>
                </a:solidFill>
              </a:rPr>
              <a:t>Validation loss · 20 epochs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635240" y="1481328"/>
            <a:ext cx="178308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8E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36408" y="168249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36408" y="1828800"/>
            <a:ext cx="1380744" cy="48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128"/>
                </a:solidFill>
              </a:rPr>
              <a:t>19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836408" y="2249424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1797C"/>
                </a:solidFill>
              </a:rPr>
              <a:t>BEST EPOCH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619488" y="1481328"/>
            <a:ext cx="178308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8E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820656" y="1682496"/>
            <a:ext cx="109728" cy="109728"/>
          </a:xfrm>
          <a:prstGeom prst="ellipse">
            <a:avLst/>
          </a:prstGeom>
          <a:solidFill>
            <a:srgbClr val="FF5C93"/>
          </a:solidFill>
          <a:ln w="12700">
            <a:solidFill>
              <a:srgbClr val="FF5C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20656" y="1828800"/>
            <a:ext cx="1380744" cy="48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128"/>
                </a:solidFill>
              </a:rPr>
              <a:t>3.20296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820656" y="2249424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1797C"/>
                </a:solidFill>
              </a:rPr>
              <a:t>BEST VAL LOSS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35240" y="2852928"/>
            <a:ext cx="178308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8E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36408" y="3054096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6408" y="3200400"/>
            <a:ext cx="1380744" cy="48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128"/>
                </a:solidFill>
              </a:rPr>
              <a:t>0.90337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836408" y="3621024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1797C"/>
                </a:solidFill>
              </a:rPr>
              <a:t>VAL SSIM FULL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619488" y="2852928"/>
            <a:ext cx="178308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8E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820656" y="3054096"/>
            <a:ext cx="109728" cy="109728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20656" y="3200400"/>
            <a:ext cx="1380744" cy="48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128"/>
                </a:solidFill>
              </a:rPr>
              <a:t>0.92599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820656" y="3621024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1797C"/>
                </a:solidFill>
              </a:rPr>
              <a:t>VAL SSIM BBOX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635240" y="4242816"/>
            <a:ext cx="3767328" cy="1581912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D9E8E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955280" y="45537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927F"/>
                </a:solidFill>
              </a:rPr>
              <a:t>+0.005595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7955280" y="5074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797C"/>
                </a:solidFill>
              </a:rPr>
              <a:t>validation quality vs EXP012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955280" y="5376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97C"/>
                </a:solidFill>
              </a:rPr>
              <a:t>Longer training + stronger sensitivity estimation improved both full-image and lesion-box metrics.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9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SNU FastMRI Challenge  ·  EXP030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201400" y="649224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179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F927F"/>
                </a:solidFill>
              </a:rPr>
              <a:t>CANDIDATE SELECTION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128"/>
                </a:solidFill>
              </a:rPr>
              <a:t>EXP030 wins on both official quality metrics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508760"/>
          <a:ext cx="7178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65008" y="1508760"/>
            <a:ext cx="35204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8E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94192" y="18105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927F"/>
                </a:solidFill>
              </a:rPr>
              <a:t>+0.0063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8412480" y="23591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797C"/>
                </a:solidFill>
              </a:rPr>
              <a:t>quality-score gain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65008" y="3108960"/>
            <a:ext cx="35204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8E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94192" y="3410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5C93"/>
                </a:solidFill>
              </a:rPr>
              <a:t>+0.006286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412480" y="3959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797C"/>
                </a:solidFill>
              </a:rPr>
              <a:t>one-shot total-score gain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65008" y="47091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8E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94192" y="4983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128"/>
                </a:solidFill>
              </a:rPr>
              <a:t>Decision rule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94192" y="53218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97C"/>
                </a:solidFill>
              </a:rPr>
              <a:t>Quality gap &gt; 0.001 → prefer EXP030; timing cannot reverse the result.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9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SNU FastMRI Challenge  ·  EXP030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01400" y="649224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179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DD4BF"/>
                </a:solidFill>
              </a:rPr>
              <a:t>OFFICIAL TIMING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BFA"/>
                </a:solidFill>
              </a:rPr>
              <a:t>Thirty repeats confirm stable quality and runtime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7955280" cy="4480560"/>
          </a:xfrm>
          <a:prstGeom prst="roundRect">
            <a:avLst>
              <a:gd name="adj" fmla="val 1633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68680" y="1783080"/>
          <a:ext cx="7315200" cy="3767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56052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B8B9"/>
                </a:solidFill>
              </a:rPr>
              <a:t>Run number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823960" y="15087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025128" y="1709928"/>
            <a:ext cx="109728" cy="109728"/>
          </a:xfrm>
          <a:prstGeom prst="ellipse">
            <a:avLst/>
          </a:prstGeom>
          <a:solidFill>
            <a:srgbClr val="FF5C93"/>
          </a:solidFill>
          <a:ln w="12700">
            <a:solidFill>
              <a:srgbClr val="FF5C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25128" y="1856232"/>
            <a:ext cx="2249424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BFA"/>
                </a:solidFill>
              </a:rPr>
              <a:t>173.4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025128" y="2441448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AB8B9"/>
                </a:solidFill>
              </a:rPr>
              <a:t>BEST MS / SLICE · RUN 01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823960" y="306324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025128" y="3264408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25128" y="3410712"/>
            <a:ext cx="2249424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BFA"/>
                </a:solidFill>
              </a:rPr>
              <a:t>0.9143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025128" y="3995928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AB8B9"/>
                </a:solidFill>
              </a:rPr>
              <a:t>QUALITY · ALL 30 RUNS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823960" y="4617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025128" y="4818888"/>
            <a:ext cx="109728" cy="109728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25128" y="4965192"/>
            <a:ext cx="22494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BFA"/>
                </a:solidFill>
              </a:rPr>
              <a:t>0.915251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9025128" y="5596128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9AB8B9"/>
                </a:solidFill>
              </a:rPr>
              <a:t>FINAL TOTAL SCORE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SNU FastMRI Challenge  ·  EXP030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01400" y="649224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DD4BF"/>
                </a:solidFill>
              </a:rPr>
              <a:t>SUBMISSION HANDOFF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BFA"/>
                </a:solidFill>
              </a:rPr>
              <a:t>One command, fixed harness, auditable artifacts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3337560" cy="1627632"/>
          </a:xfrm>
          <a:prstGeom prst="roundRect">
            <a:avLst>
              <a:gd name="adj" fmla="val 4494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51C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A"/>
                </a:solidFill>
              </a:rPr>
              <a:t>Place weight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968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D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../result/test_Varnet/checkpoints/best_model.pt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34840" y="1664208"/>
            <a:ext cx="3337560" cy="1627632"/>
          </a:xfrm>
          <a:prstGeom prst="roundRect">
            <a:avLst>
              <a:gd name="adj" fmla="val 4494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20240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299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51C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A"/>
                </a:solidFill>
              </a:rPr>
              <a:t>Mount data read-only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5968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D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/root/Data/leaderboard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1664208"/>
            <a:ext cx="3337560" cy="1627632"/>
          </a:xfrm>
          <a:prstGeom prst="roundRect">
            <a:avLst>
              <a:gd name="adj" fmla="val 4494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20240"/>
            <a:ext cx="475488" cy="475488"/>
          </a:xfrm>
          <a:prstGeom prst="ellipse">
            <a:avLst/>
          </a:prstGeom>
          <a:solidFill>
            <a:srgbClr val="FF5C93"/>
          </a:solidFill>
          <a:ln w="12700">
            <a:solidFill>
              <a:srgbClr val="FF5C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0299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51C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A"/>
                </a:solidFill>
              </a:rPr>
              <a:t>Run official entrypoint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5968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D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recon_eval.sh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6812280" cy="1664208"/>
          </a:xfrm>
          <a:prstGeom prst="roundRect">
            <a:avLst>
              <a:gd name="adj" fmla="val 4396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BFA"/>
                </a:solidFill>
              </a:rPr>
              <a:t>Integrity record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5079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B8B9"/>
                </a:solidFill>
              </a:rPr>
              <a:t>Checkpoint SHA-256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448970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7D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ef74bec4243e7aa39d5aa8dae031e1bb83e771c26be00c4e5330e17b60a66085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960120" y="48828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B8B9"/>
                </a:solidFill>
              </a:rPr>
              <a:t>Evaluator SHA-256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486460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7D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a93cf978b4938a060d4f5a204d3f7118fb8c17bf12408cbe44e6e7954ba5a135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818120" y="3703320"/>
            <a:ext cx="3685032" cy="1664208"/>
          </a:xfrm>
          <a:prstGeom prst="roundRect">
            <a:avLst>
              <a:gd name="adj" fmla="val 4396"/>
            </a:avLst>
          </a:prstGeom>
          <a:solidFill>
            <a:srgbClr val="102731"/>
          </a:solidFill>
          <a:ln w="12700">
            <a:solidFill>
              <a:srgbClr val="183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38160" y="4005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BFA"/>
                </a:solidFill>
              </a:rPr>
              <a:t>Required deliverables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156448" y="452628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5171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DE3D8"/>
                </a:solidFill>
              </a:rPr>
              <a:t>GitHub repository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756648" y="452628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12680" y="45171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DE3D8"/>
                </a:solidFill>
              </a:rPr>
              <a:t>Loss graph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56448" y="493776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9286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DE3D8"/>
                </a:solidFill>
              </a:rPr>
              <a:t>Model weight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756648" y="493776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0" y="49286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DE3D8"/>
                </a:solidFill>
              </a:rPr>
              <a:t>Description deck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" y="5824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BFA"/>
                </a:solidFill>
              </a:rPr>
              <a:t>EXP030 is ready for final submission.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731520" y="62453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8B9"/>
                </a:solidFill>
              </a:rPr>
              <a:t>Selected for its durable quality advantage—not a fragile timing win.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SNU FastMRI Challenge  ·  EXP030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01400" y="649224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2026-FastMRI-SNU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EXP030 — Final Phase 2 Model</dc:title>
  <dc:subject>2026 SNU FastMRI Challenge final model description</dc:subject>
  <dc:creator>caffeine-fighter</dc:creator>
  <cp:lastModifiedBy>caffeine-fighter</cp:lastModifiedBy>
  <cp:revision>1</cp:revision>
  <dcterms:created xsi:type="dcterms:W3CDTF">2026-07-10T06:34:03Z</dcterms:created>
  <dcterms:modified xsi:type="dcterms:W3CDTF">2026-07-10T06:34:03Z</dcterms:modified>
</cp:coreProperties>
</file>